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6" r:id="rId11"/>
    <p:sldId id="267" r:id="rId12"/>
    <p:sldId id="268" r:id="rId13"/>
    <p:sldId id="269" r:id="rId14"/>
    <p:sldId id="270" r:id="rId15"/>
    <p:sldId id="271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04D3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84944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SE">
    <p:bg>
      <p:bgPr>
        <a:solidFill>
          <a:srgbClr val="F5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mailmissouri-my.sharepoint.com/:v:/g/personal/rahktf_umsystem_edu/IQARTgGewC4UT4b5t_-KIDOZAXOEayGFZzoyn-hp_DAH7j8?nav=eyJyZWZlcnJhbEluZm8iOnsicmVmZXJyYWxBcHAiOiJTdHJlYW1XZWJBcHAiLCJyZWZlcnJhbFZpZXciOiJTaGFyZURpYWxvZy1MaW5rIiwicmVmZXJyYWxBcHBQbGF0Zm9ybSI6IldlYiIsInJlZmVycmFsTW9kZSI6InZpZXcifX0%3D&amp;e=zR5FTi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B04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5542 · QUIZ CHALLENGE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1737360"/>
            <a:ext cx="109728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Controlled Music &amp; Sound</a:t>
            </a:r>
            <a:endParaRPr lang="en-US" sz="4800" dirty="0"/>
          </a:p>
          <a:p>
            <a:pPr marL="0" indent="0">
              <a:buNone/>
            </a:pPr>
            <a:r>
              <a:rPr lang="en-US" sz="4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Generation with MusicGen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731520" y="411480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6B6B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study of prompt engineering, control mechanisms, and multi-metric evaluation in text-to-audio foundation models.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731520" y="58521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Rohan Hashmi  ·   University of Missouri–Kansas City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6172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B04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60120" y="3474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controlled audio generation matters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48640" y="2103120"/>
            <a:ext cx="838663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Game studios and content creators need music and sound that match specific briefs — genre, tempo, mood, instrumentation. Naive prompts to audio foundation models produce unpredictable results. Production systems need consistency, alignment to intent, and measurable quality.</a:t>
            </a:r>
            <a:endParaRPr lang="en-US" sz="1200" dirty="0">
              <a:latin typeface="Georgia" panose="02040502050405020303" pitchFamily="18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548640" y="39319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B04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011680" y="3931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Turn structured scene briefs into reliable audio generations.</a:t>
            </a:r>
            <a:endParaRPr lang="en-US" sz="1300" dirty="0">
              <a:latin typeface="Georgia" panose="02040502050405020303" pitchFamily="18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548640" y="47091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B04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011680" y="4709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Measure alignment, consistency, diversity, tempo, and variance.</a:t>
            </a:r>
            <a:endParaRPr lang="en-US" sz="1300" dirty="0">
              <a:latin typeface="Georgia" panose="02040502050405020303" pitchFamily="18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48640" y="54864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B04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011680" y="54864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Quantify what specificity costs in creative range.</a:t>
            </a:r>
            <a:endParaRPr lang="en-US" sz="1300" dirty="0">
              <a:latin typeface="Georgia" panose="02040502050405020303" pitchFamily="18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B04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60120" y="3474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MusicGen in one paragraph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48640" y="201168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MusicGen is an autoregressive transformer — unlike the diffusion models used for images. It predicts audio tokens sequentially from a text prompt. A T5 encoder turns the text into an embedding, a decoder-only transformer predicts discrete EnCodec audio tokens one step at a time, and EnCodec decodes those tokens into a 32 kHz waveform.</a:t>
            </a:r>
            <a:endParaRPr lang="en-US" sz="1200" dirty="0">
              <a:latin typeface="Georgia" panose="02040502050405020303" pitchFamily="18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548640" y="3840480"/>
            <a:ext cx="2697480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3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77240" y="40233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B04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77240" y="438912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T5 Encoder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777240" y="512064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6B6B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Text prompt becomes a conditioning embedding.</a:t>
            </a:r>
            <a:endParaRPr lang="en-US" sz="1200" dirty="0">
              <a:latin typeface="Georgia" panose="02040502050405020303" pitchFamily="18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3383280" y="3840480"/>
            <a:ext cx="2697480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3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611880" y="40233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B04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611880" y="438912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Transformer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3611880" y="512064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6B6B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Predicts discrete audio tokens autoregressively.</a:t>
            </a:r>
            <a:endParaRPr lang="en-US" sz="1200" dirty="0">
              <a:latin typeface="Georgia" panose="02040502050405020303" pitchFamily="18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217920" y="3840480"/>
            <a:ext cx="2697480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3C7"/>
            </a:solidFill>
            <a:prstDash val="solid"/>
          </a:ln>
        </p:spPr>
        <p:txBody>
          <a:bodyPr/>
          <a:lstStyle/>
          <a:p>
            <a:endParaRPr lang="en-US" sz="1200">
              <a:latin typeface="Georgia" panose="02040502050405020303" pitchFamily="18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446520" y="40233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B04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446520" y="438912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CFG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6446520" y="512064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6B6B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Classifier-free guidance steers toward the prompt.</a:t>
            </a:r>
            <a:endParaRPr lang="en-US" sz="1200" dirty="0">
              <a:latin typeface="Georgia" panose="02040502050405020303" pitchFamily="18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9052560" y="3840480"/>
            <a:ext cx="2697480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3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9281160" y="40233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B04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9281160" y="438912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EnCodec Decode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9281160" y="512064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6B6B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Tokens decoded to a 32 kHz mono waveform.</a:t>
            </a:r>
            <a:endParaRPr lang="en-US" sz="1200" dirty="0">
              <a:latin typeface="Georgia" panose="02040502050405020303" pitchFamily="18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B04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60120" y="3474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System pipeline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48640" y="1920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6B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Structured scene metadata flows through three progressively-constrained prompt strategies, into MusicGen Small, and out to a five-metric evaluation layer.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3291840"/>
            <a:ext cx="1920240" cy="1828800"/>
          </a:xfrm>
          <a:prstGeom prst="rect">
            <a:avLst/>
          </a:prstGeom>
          <a:solidFill>
            <a:srgbClr val="FFFFFF"/>
          </a:solidFill>
          <a:ln w="1651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76072" y="3474720"/>
            <a:ext cx="1773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SceneSpec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metadata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76072" y="4343400"/>
            <a:ext cx="17739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6B6B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scene, genre, BPM,</a:t>
            </a:r>
            <a:endParaRPr lang="en-US" sz="1200" dirty="0">
              <a:latin typeface="Georgia" panose="02040502050405020303" pitchFamily="18" charset="0"/>
            </a:endParaRPr>
          </a:p>
          <a:p>
            <a:pPr marL="0" indent="0" algn="ctr">
              <a:buNone/>
            </a:pPr>
            <a:r>
              <a:rPr lang="en-US" sz="1200" dirty="0">
                <a:solidFill>
                  <a:srgbClr val="6B6B6B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instruments, mood</a:t>
            </a:r>
            <a:endParaRPr lang="en-US" sz="1200" dirty="0">
              <a:latin typeface="Georgia" panose="02040502050405020303" pitchFamily="18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2834640" y="3291840"/>
            <a:ext cx="1920240" cy="1828800"/>
          </a:xfrm>
          <a:prstGeom prst="rect">
            <a:avLst/>
          </a:prstGeom>
          <a:solidFill>
            <a:srgbClr val="FFFFFF"/>
          </a:solidFill>
          <a:ln w="1651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907792" y="3474720"/>
            <a:ext cx="1773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Prompt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template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907792" y="4343400"/>
            <a:ext cx="17739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6B6B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naive · structured ·</a:t>
            </a:r>
            <a:endParaRPr lang="en-US" sz="1200" dirty="0">
              <a:latin typeface="Georgia" panose="02040502050405020303" pitchFamily="18" charset="0"/>
            </a:endParaRPr>
          </a:p>
          <a:p>
            <a:pPr marL="0" indent="0" algn="ctr">
              <a:buNone/>
            </a:pPr>
            <a:r>
              <a:rPr lang="en-US" sz="1200" dirty="0">
                <a:solidFill>
                  <a:srgbClr val="6B6B6B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structured+guidance</a:t>
            </a:r>
            <a:endParaRPr lang="en-US" sz="1200" dirty="0">
              <a:latin typeface="Georgia" panose="02040502050405020303" pitchFamily="18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5166360" y="3291840"/>
            <a:ext cx="1920240" cy="1828800"/>
          </a:xfrm>
          <a:prstGeom prst="rect">
            <a:avLst/>
          </a:prstGeom>
          <a:solidFill>
            <a:srgbClr val="FFFFFF"/>
          </a:solidFill>
          <a:ln w="1651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239512" y="3474720"/>
            <a:ext cx="1773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MusicGen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Small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239512" y="4343400"/>
            <a:ext cx="17739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6B6B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T5 + Transformer</a:t>
            </a:r>
            <a:endParaRPr lang="en-US" sz="1200" dirty="0">
              <a:latin typeface="Georgia" panose="02040502050405020303" pitchFamily="18" charset="0"/>
            </a:endParaRPr>
          </a:p>
          <a:p>
            <a:pPr marL="0" indent="0" algn="ctr">
              <a:buNone/>
            </a:pPr>
            <a:r>
              <a:rPr lang="en-US" sz="1200" dirty="0">
                <a:solidFill>
                  <a:srgbClr val="6B6B6B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+ EnCodec · CFG 3/5</a:t>
            </a:r>
            <a:endParaRPr lang="en-US" sz="1200" dirty="0">
              <a:latin typeface="Georgia" panose="02040502050405020303" pitchFamily="18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7498080" y="3291840"/>
            <a:ext cx="1920240" cy="1828800"/>
          </a:xfrm>
          <a:prstGeom prst="rect">
            <a:avLst/>
          </a:prstGeom>
          <a:solidFill>
            <a:srgbClr val="FFFFFF"/>
          </a:solidFill>
          <a:ln w="1651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7571232" y="3474720"/>
            <a:ext cx="1773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Generated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audio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571232" y="4343400"/>
            <a:ext cx="17739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6B6B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10-sec WAV at 32 kHz</a:t>
            </a:r>
            <a:endParaRPr lang="en-US" sz="1200" dirty="0">
              <a:latin typeface="Georgia" panose="02040502050405020303" pitchFamily="18" charset="0"/>
            </a:endParaRPr>
          </a:p>
          <a:p>
            <a:pPr marL="0" indent="0" algn="ctr">
              <a:buNone/>
            </a:pPr>
            <a:r>
              <a:rPr lang="en-US" sz="1200" dirty="0">
                <a:solidFill>
                  <a:srgbClr val="6B6B6B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seeded for reproducibility</a:t>
            </a:r>
            <a:endParaRPr lang="en-US" sz="1200" dirty="0">
              <a:latin typeface="Georgia" panose="02040502050405020303" pitchFamily="18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9829800" y="3291840"/>
            <a:ext cx="1920240" cy="1828800"/>
          </a:xfrm>
          <a:prstGeom prst="rect">
            <a:avLst/>
          </a:prstGeom>
          <a:solidFill>
            <a:srgbClr val="FFFFFF"/>
          </a:solidFill>
          <a:ln w="1651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9902952" y="3474720"/>
            <a:ext cx="1773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Evaluation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layer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9902952" y="4343400"/>
            <a:ext cx="17739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6B6B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CLAP · spectral dist ·</a:t>
            </a:r>
            <a:endParaRPr lang="en-US" sz="1200" dirty="0">
              <a:latin typeface="Georgia" panose="02040502050405020303" pitchFamily="18" charset="0"/>
            </a:endParaRPr>
          </a:p>
          <a:p>
            <a:pPr marL="0" indent="0" algn="ctr">
              <a:buNone/>
            </a:pPr>
            <a:r>
              <a:rPr lang="en-US" sz="1200" dirty="0">
                <a:solidFill>
                  <a:srgbClr val="6B6B6B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tempo accuracy</a:t>
            </a:r>
            <a:endParaRPr lang="en-US" sz="1200" dirty="0">
              <a:latin typeface="Georgia" panose="02040502050405020303" pitchFamily="18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548640" y="56692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B04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48640" y="598932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 ·  PyTorch  ·  Hugging Face Transformers  ·  LAION-CLAP  ·  librosa  ·  NVIDIA L4 GPU (Colab Pro)  ·  MusicGen Small (300M params)</a:t>
            </a:r>
            <a:endParaRPr lang="en-US" sz="1050" dirty="0"/>
          </a:p>
        </p:txBody>
      </p:sp>
      <p:sp>
        <p:nvSpPr>
          <p:cNvPr id="27" name="Right Arrow 26">
            <a:extLst>
              <a:ext uri="{FF2B5EF4-FFF2-40B4-BE49-F238E27FC236}">
                <a16:creationId xmlns:a16="http://schemas.microsoft.com/office/drawing/2014/main" id="{2AE8A483-341E-B994-E446-DE6038673221}"/>
              </a:ext>
            </a:extLst>
          </p:cNvPr>
          <p:cNvSpPr/>
          <p:nvPr/>
        </p:nvSpPr>
        <p:spPr>
          <a:xfrm>
            <a:off x="2423160" y="4114800"/>
            <a:ext cx="411480" cy="182880"/>
          </a:xfrm>
          <a:prstGeom prst="rightArrow">
            <a:avLst/>
          </a:prstGeom>
          <a:solidFill>
            <a:srgbClr val="B04D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>
              <a:ln w="22225">
                <a:solidFill>
                  <a:schemeClr val="accent2"/>
                </a:solidFill>
                <a:prstDash val="solid"/>
              </a:ln>
              <a:solidFill>
                <a:schemeClr val="bg1"/>
              </a:solidFill>
            </a:endParaRPr>
          </a:p>
        </p:txBody>
      </p:sp>
      <p:sp>
        <p:nvSpPr>
          <p:cNvPr id="28" name="Right Arrow 27">
            <a:extLst>
              <a:ext uri="{FF2B5EF4-FFF2-40B4-BE49-F238E27FC236}">
                <a16:creationId xmlns:a16="http://schemas.microsoft.com/office/drawing/2014/main" id="{79C92218-AB37-AEC7-F7BC-804F753AA834}"/>
              </a:ext>
            </a:extLst>
          </p:cNvPr>
          <p:cNvSpPr/>
          <p:nvPr/>
        </p:nvSpPr>
        <p:spPr>
          <a:xfrm>
            <a:off x="4754880" y="4114800"/>
            <a:ext cx="411480" cy="182880"/>
          </a:xfrm>
          <a:prstGeom prst="rightArrow">
            <a:avLst/>
          </a:prstGeom>
          <a:solidFill>
            <a:srgbClr val="B04D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>
              <a:ln w="22225">
                <a:solidFill>
                  <a:schemeClr val="accent2"/>
                </a:solidFill>
                <a:prstDash val="solid"/>
              </a:ln>
              <a:solidFill>
                <a:schemeClr val="bg1"/>
              </a:solidFill>
            </a:endParaRPr>
          </a:p>
        </p:txBody>
      </p:sp>
      <p:sp>
        <p:nvSpPr>
          <p:cNvPr id="29" name="Right Arrow 28">
            <a:extLst>
              <a:ext uri="{FF2B5EF4-FFF2-40B4-BE49-F238E27FC236}">
                <a16:creationId xmlns:a16="http://schemas.microsoft.com/office/drawing/2014/main" id="{DF14038D-CDC6-FFE4-94F9-7625764AFA82}"/>
              </a:ext>
            </a:extLst>
          </p:cNvPr>
          <p:cNvSpPr/>
          <p:nvPr/>
        </p:nvSpPr>
        <p:spPr>
          <a:xfrm>
            <a:off x="7086600" y="4114800"/>
            <a:ext cx="411480" cy="182880"/>
          </a:xfrm>
          <a:prstGeom prst="rightArrow">
            <a:avLst/>
          </a:prstGeom>
          <a:solidFill>
            <a:srgbClr val="B04D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>
              <a:ln w="22225">
                <a:solidFill>
                  <a:schemeClr val="accent2"/>
                </a:solidFill>
                <a:prstDash val="solid"/>
              </a:ln>
              <a:solidFill>
                <a:schemeClr val="bg1"/>
              </a:solidFill>
            </a:endParaRPr>
          </a:p>
        </p:txBody>
      </p:sp>
      <p:sp>
        <p:nvSpPr>
          <p:cNvPr id="30" name="Right Arrow 29">
            <a:extLst>
              <a:ext uri="{FF2B5EF4-FFF2-40B4-BE49-F238E27FC236}">
                <a16:creationId xmlns:a16="http://schemas.microsoft.com/office/drawing/2014/main" id="{7E178B23-72D5-7BF1-FE6C-D74C55364B50}"/>
              </a:ext>
            </a:extLst>
          </p:cNvPr>
          <p:cNvSpPr/>
          <p:nvPr/>
        </p:nvSpPr>
        <p:spPr>
          <a:xfrm>
            <a:off x="9418320" y="4084983"/>
            <a:ext cx="411480" cy="182880"/>
          </a:xfrm>
          <a:prstGeom prst="rightArrow">
            <a:avLst/>
          </a:prstGeom>
          <a:solidFill>
            <a:srgbClr val="B04D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>
              <a:ln w="22225">
                <a:solidFill>
                  <a:schemeClr val="accent2"/>
                </a:solidFill>
                <a:prstDash val="solid"/>
              </a:ln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B04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60120" y="3474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Structured audio scene specifications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48640" y="1874520"/>
            <a:ext cx="9235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Rather than train a model (MusicGen is already trained), I authored a compact catalog of five diverse audio scenes. Each spec is a dataclass capturing the fields a real content-creator or game-audio platform would receive as a user brief.</a:t>
            </a:r>
            <a:endParaRPr lang="en-US" sz="1200" dirty="0">
              <a:latin typeface="Georgia" panose="02040502050405020303" pitchFamily="18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548640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B04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37490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B6B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00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51560" y="37490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Workout pop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297680" y="381304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128 BPM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426110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B6B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051560" y="426110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Cinematic suspense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297680" y="432511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90 BPM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477316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B6B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051560" y="477316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Lo-fi study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297680" y="483717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75 BPM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528523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B6B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051560" y="528523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Chiptune platformer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297680" y="53492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150 BPM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" y="579729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B6B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051560" y="579729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Coffee shop folk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4297680" y="586130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95 BPM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040880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B04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EXAMPLE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040880" y="3657600"/>
            <a:ext cx="47548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SceneSpec(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scene_id    = "chiptune_platformer",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genre       = "8-bit chiptune",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tempo_bpm   = 150,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instruments = ["square wave lead",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"triangle wave bass",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"noise channel drums"],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mood        = "playful, adventurous,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nostalgic",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key_descriptors = ["NES-style",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"rapid arpeggios"],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B04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60120" y="3474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strategies, progressively controlled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48640" y="20116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B04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3317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6B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Baseline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017520" y="1965960"/>
            <a:ext cx="873252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3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200400" y="196596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"8-bit chiptune"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200400" y="29032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6B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Minimal information — what a casual user would type.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35661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B04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48640" y="38862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6B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Intervention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017520" y="3520440"/>
            <a:ext cx="873252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3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200400" y="3525012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"8-bit chiptune, 150 BPM, square wave lead, triangle wave bass, noise channel drums, playful adventurous nostalgic, NES-style, rapid arpeggios, looping chip music, retro videogame, professional studio production, high quality recording"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200400" y="4459986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6B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Metadata compiled via template with quality modifiers appended.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48640" y="51206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B04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+ GUIDANCE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54406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6B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Control stack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017520" y="5074920"/>
            <a:ext cx="873252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3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200400" y="5092612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Same as structured, plus quality-floor tokens: "clean mix, no distortion, no vocals, no clipping" — and CFG raised from 3.0 to 5.0.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200400" y="6021026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6B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MusicGen has no negative-prompt mechanism, so the closest analog is higher classifier-free guidance + quality tokens.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B04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60120" y="3474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dramatic case: “8-bit chiptune”</a:t>
            </a:r>
            <a:endParaRPr lang="en-US" sz="3600" dirty="0"/>
          </a:p>
        </p:txBody>
      </p:sp>
      <p:pic>
        <p:nvPicPr>
          <p:cNvPr id="5" name="Image 0" descr="scene03_naive_seed4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103120"/>
            <a:ext cx="5349240" cy="3200400"/>
          </a:xfrm>
          <a:prstGeom prst="rect">
            <a:avLst/>
          </a:prstGeom>
        </p:spPr>
      </p:pic>
      <p:pic>
        <p:nvPicPr>
          <p:cNvPr id="6" name="Image 1" descr="scene03_structured_guidance_seed4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2103120"/>
            <a:ext cx="5349240" cy="32004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48640" y="544068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B04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 PROMPT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548640" y="576072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"8-bit chiptune"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548640" y="617220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CLAP: 6.68    ·    Detected tempo: 101 BPM (target 150)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6309360" y="544068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B04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+ GUIDANCE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6309360" y="576072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Full metadata + quality floor + CFG 5.0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6309360" y="617220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CLAP: 48.87    ·    Detected tempo: 150 BPM (exact)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B04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60120" y="3474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Full strategy × seed matrix</a:t>
            </a:r>
            <a:endParaRPr lang="en-US" sz="3600" dirty="0"/>
          </a:p>
        </p:txBody>
      </p:sp>
      <p:sp>
        <p:nvSpPr>
          <p:cNvPr id="7" name="Text 4"/>
          <p:cNvSpPr/>
          <p:nvPr/>
        </p:nvSpPr>
        <p:spPr>
          <a:xfrm>
            <a:off x="560567" y="24414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B04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</a:t>
            </a:r>
            <a:endParaRPr lang="en-US" sz="1000" dirty="0"/>
          </a:p>
        </p:txBody>
      </p:sp>
      <p:pic>
        <p:nvPicPr>
          <p:cNvPr id="10" name="Picture 9" descr="A close-up of a screenshot&#10;&#10;AI-generated content may be incorrect.">
            <a:extLst>
              <a:ext uri="{FF2B5EF4-FFF2-40B4-BE49-F238E27FC236}">
                <a16:creationId xmlns:a16="http://schemas.microsoft.com/office/drawing/2014/main" id="{1EEF823E-C4D8-DE84-927A-8AE4A5F7579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799"/>
          <a:stretch>
            <a:fillRect/>
          </a:stretch>
        </p:blipFill>
        <p:spPr>
          <a:xfrm>
            <a:off x="1591544" y="2026592"/>
            <a:ext cx="9929896" cy="3928936"/>
          </a:xfrm>
          <a:prstGeom prst="rect">
            <a:avLst/>
          </a:prstGeom>
        </p:spPr>
      </p:pic>
      <p:sp>
        <p:nvSpPr>
          <p:cNvPr id="11" name="Text 4">
            <a:extLst>
              <a:ext uri="{FF2B5EF4-FFF2-40B4-BE49-F238E27FC236}">
                <a16:creationId xmlns:a16="http://schemas.microsoft.com/office/drawing/2014/main" id="{BF3021E9-B80C-5AC5-0DD2-A2A475CD62D6}"/>
              </a:ext>
            </a:extLst>
          </p:cNvPr>
          <p:cNvSpPr/>
          <p:nvPr/>
        </p:nvSpPr>
        <p:spPr>
          <a:xfrm>
            <a:off x="548640" y="372240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B04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</a:t>
            </a:r>
            <a:endParaRPr lang="en-US" sz="1000" dirty="0"/>
          </a:p>
        </p:txBody>
      </p:sp>
      <p:sp>
        <p:nvSpPr>
          <p:cNvPr id="12" name="Text 4">
            <a:extLst>
              <a:ext uri="{FF2B5EF4-FFF2-40B4-BE49-F238E27FC236}">
                <a16:creationId xmlns:a16="http://schemas.microsoft.com/office/drawing/2014/main" id="{168EA86A-ED09-E14E-27DA-089D24E2CFF8}"/>
              </a:ext>
            </a:extLst>
          </p:cNvPr>
          <p:cNvSpPr/>
          <p:nvPr/>
        </p:nvSpPr>
        <p:spPr>
          <a:xfrm>
            <a:off x="548640" y="5056632"/>
            <a:ext cx="1042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B04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+ GUIDENCE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52704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Georgia" panose="02040502050405020303" pitchFamily="18" charset="0"/>
              </a:rPr>
              <a:t>Same scene, different prompts (rows) and different random seeds (columns). Reading down shows what each strategy produces. Reading across shows how much each strategy changes between runs.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B04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60120" y="3474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metrics, one coherent story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48640" y="192819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Raw CLAP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922104" y="1920240"/>
            <a:ext cx="8599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latin typeface="Georgia" panose="02040502050405020303" pitchFamily="18" charset="0"/>
              </a:rPr>
              <a:t>Does the audio match the prompt you gave it?</a:t>
            </a:r>
            <a:r>
              <a:rPr lang="en-US" sz="1200" dirty="0">
                <a:latin typeface="Georgia" panose="02040502050405020303" pitchFamily="18" charset="0"/>
              </a:rPr>
              <a:t> Scores each clip against its exact prompt. The industry-standard alignment check. Short prompts usually win here — but that's a bias, not a signal.</a:t>
            </a:r>
          </a:p>
        </p:txBody>
      </p:sp>
      <p:sp>
        <p:nvSpPr>
          <p:cNvPr id="8" name="Shape 6"/>
          <p:cNvSpPr/>
          <p:nvPr/>
        </p:nvSpPr>
        <p:spPr>
          <a:xfrm>
            <a:off x="548640" y="2523744"/>
            <a:ext cx="11155680" cy="0"/>
          </a:xfrm>
          <a:prstGeom prst="line">
            <a:avLst/>
          </a:prstGeom>
          <a:noFill/>
          <a:ln w="9525">
            <a:solidFill>
              <a:srgbClr val="D9D3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48640" y="273286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Semantic CLAP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922104" y="2724912"/>
            <a:ext cx="8599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latin typeface="Georgia" panose="02040502050405020303" pitchFamily="18" charset="0"/>
              </a:rPr>
              <a:t>Does the audio match the </a:t>
            </a:r>
            <a:r>
              <a:rPr lang="en-US" sz="1200" b="1" i="1" dirty="0">
                <a:latin typeface="Georgia" panose="02040502050405020303" pitchFamily="18" charset="0"/>
              </a:rPr>
              <a:t>concept</a:t>
            </a:r>
            <a:r>
              <a:rPr lang="en-US" sz="1200" b="1" dirty="0">
                <a:latin typeface="Georgia" panose="02040502050405020303" pitchFamily="18" charset="0"/>
              </a:rPr>
              <a:t> — regardless of how you asked?</a:t>
            </a:r>
            <a:r>
              <a:rPr lang="en-US" sz="1200" dirty="0">
                <a:latin typeface="Georgia" panose="02040502050405020303" pitchFamily="18" charset="0"/>
              </a:rPr>
              <a:t> Scores each clip against the same canonical description of its scene, so all three strategies get a fair comparison. Controls for prompt-length effects.</a:t>
            </a:r>
          </a:p>
        </p:txBody>
      </p:sp>
      <p:sp>
        <p:nvSpPr>
          <p:cNvPr id="12" name="Shape 10"/>
          <p:cNvSpPr/>
          <p:nvPr/>
        </p:nvSpPr>
        <p:spPr>
          <a:xfrm>
            <a:off x="548640" y="3328416"/>
            <a:ext cx="11155680" cy="0"/>
          </a:xfrm>
          <a:prstGeom prst="line">
            <a:avLst/>
          </a:prstGeom>
          <a:noFill/>
          <a:ln w="9525">
            <a:solidFill>
              <a:srgbClr val="D9D3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48640" y="3537534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Consistency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922104" y="3529584"/>
            <a:ext cx="8599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latin typeface="Georgia" panose="02040502050405020303" pitchFamily="18" charset="0"/>
              </a:rPr>
              <a:t>Does the same prompt produce similar audio across seeds?</a:t>
            </a:r>
            <a:r>
              <a:rPr lang="en-US" sz="1200" dirty="0">
                <a:latin typeface="Georgia" panose="02040502050405020303" pitchFamily="18" charset="0"/>
              </a:rPr>
              <a:t> Measures how much same-scene clips drift when only the random seed changes. Lower = the prompt is doing its job. Uses mel-spectrogram distance.</a:t>
            </a:r>
          </a:p>
        </p:txBody>
      </p:sp>
      <p:sp>
        <p:nvSpPr>
          <p:cNvPr id="16" name="Shape 14"/>
          <p:cNvSpPr/>
          <p:nvPr/>
        </p:nvSpPr>
        <p:spPr>
          <a:xfrm>
            <a:off x="548640" y="4133088"/>
            <a:ext cx="11155680" cy="0"/>
          </a:xfrm>
          <a:prstGeom prst="line">
            <a:avLst/>
          </a:prstGeom>
          <a:noFill/>
          <a:ln w="9525">
            <a:solidFill>
              <a:srgbClr val="D9D3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48640" y="4342206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Diversity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2922104" y="4334256"/>
            <a:ext cx="8599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latin typeface="Georgia" panose="02040502050405020303" pitchFamily="18" charset="0"/>
              </a:rPr>
              <a:t>Does the system produce varied output for different scenes?</a:t>
            </a:r>
            <a:r>
              <a:rPr lang="en-US" sz="1200" dirty="0">
                <a:latin typeface="Georgia" panose="02040502050405020303" pitchFamily="18" charset="0"/>
              </a:rPr>
              <a:t> Measures how much different-scene clips differ from each other. Higher = genuine range, not collapse to a single "sound". Also mel-spectrogram distance.</a:t>
            </a:r>
          </a:p>
        </p:txBody>
      </p:sp>
      <p:sp>
        <p:nvSpPr>
          <p:cNvPr id="20" name="Shape 18"/>
          <p:cNvSpPr/>
          <p:nvPr/>
        </p:nvSpPr>
        <p:spPr>
          <a:xfrm>
            <a:off x="548640" y="4937760"/>
            <a:ext cx="11155680" cy="0"/>
          </a:xfrm>
          <a:prstGeom prst="line">
            <a:avLst/>
          </a:prstGeom>
          <a:noFill/>
          <a:ln w="9525">
            <a:solidFill>
              <a:srgbClr val="D9D3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48640" y="514687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Tempo Accuracy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2922104" y="5138928"/>
            <a:ext cx="8599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latin typeface="Georgia" panose="02040502050405020303" pitchFamily="18" charset="0"/>
              </a:rPr>
              <a:t>Is the beat actually at the BPM you asked for?</a:t>
            </a:r>
            <a:r>
              <a:rPr lang="en-US" sz="1200" dirty="0">
                <a:latin typeface="Georgia" panose="02040502050405020303" pitchFamily="18" charset="0"/>
              </a:rPr>
              <a:t> The only objective, physics-based check in the set. Reported as median (robust) and mean (inflated by beat-tracker failures on sparse music).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B04A2F"/>
                </a:solidFill>
                <a:latin typeface="Calibri" pitchFamily="34" charset="0"/>
                <a:cs typeface="Calibri" pitchFamily="34" charset="-120"/>
              </a:rPr>
              <a:t>09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60120" y="3474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Evaluation results across 45 generations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10607040" cy="6400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85800" y="19659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429000" y="196596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CLAP ↑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846320" y="196596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CLAP ↑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537960" y="196596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CONSIST. ↓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955280" y="196596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DIVERSITY ↑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9372600" y="19659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 MAE (MED) ↓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85800" y="26517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Naive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429000" y="265176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19.78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846320" y="265176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31.65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37960" y="265176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0.0485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955280" y="265176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B04A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0.0557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372600" y="26517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25.0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3154680"/>
            <a:ext cx="10607040" cy="0"/>
          </a:xfrm>
          <a:prstGeom prst="line">
            <a:avLst/>
          </a:prstGeom>
          <a:noFill/>
          <a:ln w="9525">
            <a:solidFill>
              <a:srgbClr val="D9D3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85800" y="32918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Structured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429000" y="329184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41.65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46320" y="329184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45.25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537960" y="329184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D4F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0.0305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955280" y="329184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0.0404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372600" y="32918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20.3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48640" y="3794760"/>
            <a:ext cx="10607040" cy="0"/>
          </a:xfrm>
          <a:prstGeom prst="line">
            <a:avLst/>
          </a:prstGeom>
          <a:noFill/>
          <a:ln w="9525">
            <a:solidFill>
              <a:srgbClr val="D9D3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85800" y="39319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Structured + Guidance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429000" y="393192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D4F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48.12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846320" y="3931920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D4F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49.45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537960" y="393192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0.0306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7955280" y="393192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0.0379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9372600" y="39319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D4F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1.2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48640" y="4434840"/>
            <a:ext cx="10607040" cy="0"/>
          </a:xfrm>
          <a:prstGeom prst="line">
            <a:avLst/>
          </a:prstGeom>
          <a:noFill/>
          <a:ln w="9525">
            <a:solidFill>
              <a:srgbClr val="D9D3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548640" y="4709160"/>
            <a:ext cx="182880" cy="182880"/>
          </a:xfrm>
          <a:prstGeom prst="rect">
            <a:avLst/>
          </a:prstGeom>
          <a:solidFill>
            <a:srgbClr val="B04A2F"/>
          </a:solidFill>
          <a:ln w="12700">
            <a:solidFill>
              <a:srgbClr val="B04A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822960" y="46634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6B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naive-winning metric (diversity only)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937760" y="4709160"/>
            <a:ext cx="182880" cy="182880"/>
          </a:xfrm>
          <a:prstGeom prst="rect">
            <a:avLst/>
          </a:prstGeom>
          <a:solidFill>
            <a:srgbClr val="3D4F3C"/>
          </a:solidFill>
          <a:ln w="12700">
            <a:solidFill>
              <a:srgbClr val="3D4F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5212080" y="46634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6B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structured-winning metric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48640" y="5486400"/>
            <a:ext cx="11155680" cy="1188720"/>
          </a:xfrm>
          <a:prstGeom prst="rect">
            <a:avLst/>
          </a:prstGeom>
          <a:solidFill>
            <a:srgbClr val="FFFFFF"/>
          </a:solidFill>
          <a:ln w="25400">
            <a:solidFill>
              <a:srgbClr val="3D4F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777240" y="56235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77240" y="5870448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Georgia" panose="02040502050405020303" pitchFamily="18" charset="0"/>
              </a:rPr>
              <a:t>Structured + Guidance wins alignment and tempo accuracy; consistency is essentially tied with Structured. Naive wins only diversity. Same control vs. diversity trade-off as Challenge 1 — reproduced in audio</a:t>
            </a:r>
            <a:endParaRPr lang="en-US" sz="1200" dirty="0">
              <a:solidFill>
                <a:schemeClr val="tx1">
                  <a:lumMod val="65000"/>
                  <a:lumOff val="35000"/>
                </a:schemeClr>
              </a:solidFill>
              <a:latin typeface="Georgia" panose="02040502050405020303" pitchFamily="18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B04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60120" y="3474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3600" dirty="0">
                <a:latin typeface="Georgia" panose="02040502050405020303" pitchFamily="18" charset="0"/>
                <a:cs typeface="Geeza Pro" panose="02000400000000000000" pitchFamily="2" charset="-78"/>
              </a:rPr>
              <a:t>Metrics carry their training bias with them</a:t>
            </a:r>
          </a:p>
        </p:txBody>
      </p:sp>
      <p:sp>
        <p:nvSpPr>
          <p:cNvPr id="5" name="Text 3"/>
          <p:cNvSpPr/>
          <p:nvPr/>
        </p:nvSpPr>
        <p:spPr>
          <a:xfrm>
            <a:off x="548640" y="2011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B04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610015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1 · IMAGES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284590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Naive 30.80  &gt;  Structured 28.08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4845659"/>
            <a:ext cx="10637520" cy="5565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Georgia" panose="02040502050405020303" pitchFamily="18" charset="0"/>
              </a:rPr>
              <a:t>Same lesson as Challenge 1: one alignment metric is never enough. But the trap is different — what biased CLIP in Challenge 1 isn't what biases CLAP here. You can't just copy the fix; you must re-diagnose.</a:t>
            </a:r>
          </a:p>
        </p:txBody>
      </p:sp>
      <p:sp>
        <p:nvSpPr>
          <p:cNvPr id="10" name="Text 8"/>
          <p:cNvSpPr/>
          <p:nvPr/>
        </p:nvSpPr>
        <p:spPr>
          <a:xfrm>
            <a:off x="6156960" y="2610015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2 · AUDIO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156960" y="2817412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B04A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Structured 41.65  &gt;  Naive 19.78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156960" y="3314038"/>
            <a:ext cx="5029200" cy="5565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Georgia" panose="02040502050405020303" pitchFamily="18" charset="0"/>
              </a:rPr>
              <a:t>CLAP was trained on detailed music captions with instruments and BPM. Long prompts look </a:t>
            </a:r>
            <a:r>
              <a:rPr lang="en-US" sz="12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Georgia" panose="02040502050405020303" pitchFamily="18" charset="0"/>
              </a:rPr>
              <a:t>more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Georgia" panose="02040502050405020303" pitchFamily="18" charset="0"/>
              </a:rPr>
              <a:t> correct, not less. No bias fix needed for the ranking.</a:t>
            </a:r>
          </a:p>
        </p:txBody>
      </p:sp>
      <p:sp>
        <p:nvSpPr>
          <p:cNvPr id="18" name="Text 3">
            <a:extLst>
              <a:ext uri="{FF2B5EF4-FFF2-40B4-BE49-F238E27FC236}">
                <a16:creationId xmlns:a16="http://schemas.microsoft.com/office/drawing/2014/main" id="{6331BB4F-3540-89A1-AF6E-A1584B73343C}"/>
              </a:ext>
            </a:extLst>
          </p:cNvPr>
          <p:cNvSpPr/>
          <p:nvPr/>
        </p:nvSpPr>
        <p:spPr>
          <a:xfrm>
            <a:off x="548640" y="451965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B04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</a:t>
            </a:r>
            <a:endParaRPr lang="en-US" sz="1100" dirty="0"/>
          </a:p>
        </p:txBody>
      </p:sp>
      <p:sp>
        <p:nvSpPr>
          <p:cNvPr id="19" name="Text 7">
            <a:extLst>
              <a:ext uri="{FF2B5EF4-FFF2-40B4-BE49-F238E27FC236}">
                <a16:creationId xmlns:a16="http://schemas.microsoft.com/office/drawing/2014/main" id="{CEC41A48-3664-B020-01E9-23218D99D584}"/>
              </a:ext>
            </a:extLst>
          </p:cNvPr>
          <p:cNvSpPr/>
          <p:nvPr/>
        </p:nvSpPr>
        <p:spPr>
          <a:xfrm>
            <a:off x="548640" y="3276602"/>
            <a:ext cx="4572000" cy="5565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Georgia" panose="02040502050405020303" pitchFamily="18" charset="0"/>
              </a:rPr>
              <a:t>CLIP was trained on short web captions. Long prompts have more ways to fail. Had to introduce semantic CLIP to see the real ranking.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B04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60120" y="3474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ANALYSIS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the system breaks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548640" y="372498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latin typeface="Georgia" panose="02040502050405020303" pitchFamily="18" charset="0"/>
              </a:rPr>
              <a:t>Naive prompts fail on niche genres</a:t>
            </a:r>
          </a:p>
        </p:txBody>
      </p:sp>
      <p:sp>
        <p:nvSpPr>
          <p:cNvPr id="7" name="Text 4"/>
          <p:cNvSpPr/>
          <p:nvPr/>
        </p:nvSpPr>
        <p:spPr>
          <a:xfrm>
            <a:off x="548640" y="4214192"/>
            <a:ext cx="3657600" cy="13079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Georgia" panose="02040502050405020303" pitchFamily="18" charset="0"/>
              </a:rPr>
              <a:t>"8-bit chiptune" produced generic electronic noise across all three seeds — CLAP score 6.86, close to zero. Chiptune is rare in </a:t>
            </a:r>
            <a:r>
              <a:rPr lang="en-US" sz="12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Georgia" panose="02040502050405020303" pitchFamily="18" charset="0"/>
              </a:rPr>
              <a:t>MusicGen's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Georgia" panose="02040502050405020303" pitchFamily="18" charset="0"/>
              </a:rPr>
              <a:t> training data, so the model has nothing to fall back on without anchor words like "square wave" or "NES-style".</a:t>
            </a:r>
          </a:p>
        </p:txBody>
      </p:sp>
      <p:sp>
        <p:nvSpPr>
          <p:cNvPr id="9" name="Text 5"/>
          <p:cNvSpPr/>
          <p:nvPr/>
        </p:nvSpPr>
        <p:spPr>
          <a:xfrm>
            <a:off x="4361688" y="372498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latin typeface="Georgia" panose="02040502050405020303" pitchFamily="18" charset="0"/>
              </a:rPr>
              <a:t>The beat tracker misreads sparse audio</a:t>
            </a:r>
          </a:p>
        </p:txBody>
      </p:sp>
      <p:sp>
        <p:nvSpPr>
          <p:cNvPr id="10" name="Text 6"/>
          <p:cNvSpPr/>
          <p:nvPr/>
        </p:nvSpPr>
        <p:spPr>
          <a:xfrm>
            <a:off x="4361688" y="4214190"/>
            <a:ext cx="3657600" cy="13079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Georgia" panose="02040502050405020303" pitchFamily="18" charset="0"/>
              </a:rPr>
              <a:t>For cinematic suspense at seed 123, </a:t>
            </a:r>
            <a:r>
              <a:rPr lang="en-US" sz="12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Georgia" panose="02040502050405020303" pitchFamily="18" charset="0"/>
              </a:rPr>
              <a:t>librosa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Georgia" panose="02040502050405020303" pitchFamily="18" charset="0"/>
              </a:rPr>
              <a:t> reported 250 BPM when the target was 90. There's no clear drum pulse in orchestral music, so the tracker latched onto the wrong subdivision. The audio is fine — the measurement isn't.</a:t>
            </a:r>
          </a:p>
        </p:txBody>
      </p:sp>
      <p:sp>
        <p:nvSpPr>
          <p:cNvPr id="12" name="Text 7"/>
          <p:cNvSpPr/>
          <p:nvPr/>
        </p:nvSpPr>
        <p:spPr>
          <a:xfrm>
            <a:off x="8174736" y="372498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 err="1">
                <a:latin typeface="Georgia" panose="02040502050405020303" pitchFamily="18" charset="0"/>
              </a:rPr>
              <a:t>MusicGen</a:t>
            </a:r>
            <a:r>
              <a:rPr lang="en-US" sz="1400" dirty="0">
                <a:latin typeface="Georgia" panose="02040502050405020303" pitchFamily="18" charset="0"/>
              </a:rPr>
              <a:t> doesn't support negative prompts</a:t>
            </a:r>
          </a:p>
        </p:txBody>
      </p:sp>
      <p:sp>
        <p:nvSpPr>
          <p:cNvPr id="13" name="Text 8"/>
          <p:cNvSpPr/>
          <p:nvPr/>
        </p:nvSpPr>
        <p:spPr>
          <a:xfrm>
            <a:off x="8174736" y="4214190"/>
            <a:ext cx="3657600" cy="1307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Georgia" panose="02040502050405020303" pitchFamily="18" charset="0"/>
              </a:rPr>
              <a:t>The "negative prompt" approach from Challenge 1 doesn't exist here. I had to rebuild the control stack using higher guidance (CFG 5.0) and quality-floor words in the positive prompt ("clean mix, no distortion"). Same goal, different mechanism.</a:t>
            </a:r>
          </a:p>
        </p:txBody>
      </p:sp>
      <p:pic>
        <p:nvPicPr>
          <p:cNvPr id="15" name="Picture 14" descr="A close-up of a graph&#10;&#10;AI-generated content may be incorrect.">
            <a:extLst>
              <a:ext uri="{FF2B5EF4-FFF2-40B4-BE49-F238E27FC236}">
                <a16:creationId xmlns:a16="http://schemas.microsoft.com/office/drawing/2014/main" id="{3742859C-B71B-E93E-CF64-9B21BC63064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0049"/>
          <a:stretch>
            <a:fillRect/>
          </a:stretch>
        </p:blipFill>
        <p:spPr>
          <a:xfrm>
            <a:off x="548640" y="1987628"/>
            <a:ext cx="3648798" cy="1441372"/>
          </a:xfrm>
          <a:prstGeom prst="rect">
            <a:avLst/>
          </a:prstGeom>
        </p:spPr>
      </p:pic>
      <p:pic>
        <p:nvPicPr>
          <p:cNvPr id="17" name="Picture 16" descr="A purple and black image&#10;&#10;AI-generated content may be incorrect.">
            <a:extLst>
              <a:ext uri="{FF2B5EF4-FFF2-40B4-BE49-F238E27FC236}">
                <a16:creationId xmlns:a16="http://schemas.microsoft.com/office/drawing/2014/main" id="{FBB5C5E6-575F-FA03-1549-B26A6D69C6C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10492"/>
          <a:stretch>
            <a:fillRect/>
          </a:stretch>
        </p:blipFill>
        <p:spPr>
          <a:xfrm>
            <a:off x="4370680" y="1987628"/>
            <a:ext cx="3630815" cy="1441373"/>
          </a:xfrm>
          <a:prstGeom prst="rect">
            <a:avLst/>
          </a:prstGeom>
        </p:spPr>
      </p:pic>
      <p:pic>
        <p:nvPicPr>
          <p:cNvPr id="19" name="Picture 18" descr="A close-up of a screen&#10;&#10;AI-generated content may be incorrect.">
            <a:extLst>
              <a:ext uri="{FF2B5EF4-FFF2-40B4-BE49-F238E27FC236}">
                <a16:creationId xmlns:a16="http://schemas.microsoft.com/office/drawing/2014/main" id="{BB7A4633-6BE0-B47B-E2DB-30C85D601A8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11307"/>
          <a:stretch>
            <a:fillRect/>
          </a:stretch>
        </p:blipFill>
        <p:spPr>
          <a:xfrm>
            <a:off x="8174736" y="1987628"/>
            <a:ext cx="3597765" cy="144137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B04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60120" y="3474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Limitations, caveats, next steps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48640" y="1920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B04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2381266"/>
            <a:ext cx="47588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latin typeface="Georgia" panose="02040502050405020303" pitchFamily="18" charset="0"/>
              </a:rPr>
              <a:t>CLAP scores shift slightly between runs</a:t>
            </a:r>
            <a:r>
              <a:rPr lang="en-US" sz="1200" dirty="0">
                <a:latin typeface="Georgia" panose="02040502050405020303" pitchFamily="18" charset="0"/>
              </a:rPr>
              <a:t> I ran the full pipeline twice. Scores moved by less than 1 point (under 2%). The rankings stayed the same, but a single run isn't enough to be sure.</a:t>
            </a:r>
          </a:p>
        </p:txBody>
      </p:sp>
      <p:sp>
        <p:nvSpPr>
          <p:cNvPr id="9" name="Text 7"/>
          <p:cNvSpPr/>
          <p:nvPr/>
        </p:nvSpPr>
        <p:spPr>
          <a:xfrm>
            <a:off x="548640" y="3699319"/>
            <a:ext cx="47588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latin typeface="Georgia" panose="02040502050405020303" pitchFamily="18" charset="0"/>
              </a:rPr>
              <a:t>Only 45 total clips</a:t>
            </a:r>
            <a:r>
              <a:rPr lang="en-US" sz="1200" dirty="0">
                <a:latin typeface="Georgia" panose="02040502050405020303" pitchFamily="18" charset="0"/>
              </a:rPr>
              <a:t> 5 scenes × 3 strategies × 3 seeds. Enough to see clear trends, not enough to prove them statistically.</a:t>
            </a:r>
          </a:p>
        </p:txBody>
      </p:sp>
      <p:sp>
        <p:nvSpPr>
          <p:cNvPr id="11" name="Text 9"/>
          <p:cNvSpPr/>
          <p:nvPr/>
        </p:nvSpPr>
        <p:spPr>
          <a:xfrm>
            <a:off x="548639" y="5017372"/>
            <a:ext cx="4758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latin typeface="Georgia" panose="02040502050405020303" pitchFamily="18" charset="0"/>
                <a:cs typeface="Geeza Pro" panose="02000400000000000000" pitchFamily="2" charset="-78"/>
              </a:rPr>
              <a:t>Beat tracker fails on sparse music</a:t>
            </a:r>
            <a:r>
              <a:rPr lang="en-US" sz="1200" dirty="0">
                <a:latin typeface="Georgia" panose="02040502050405020303" pitchFamily="18" charset="0"/>
                <a:cs typeface="Geeza Pro" panose="02000400000000000000" pitchFamily="2" charset="-78"/>
              </a:rPr>
              <a:t> </a:t>
            </a:r>
            <a:r>
              <a:rPr lang="en-US" sz="1200" dirty="0" err="1">
                <a:latin typeface="Georgia" panose="02040502050405020303" pitchFamily="18" charset="0"/>
                <a:cs typeface="Geeza Pro" panose="02000400000000000000" pitchFamily="2" charset="-78"/>
              </a:rPr>
              <a:t>Librosa</a:t>
            </a:r>
            <a:r>
              <a:rPr lang="en-US" sz="1200" dirty="0">
                <a:latin typeface="Georgia" panose="02040502050405020303" pitchFamily="18" charset="0"/>
                <a:cs typeface="Geeza Pro" panose="02000400000000000000" pitchFamily="2" charset="-78"/>
              </a:rPr>
              <a:t> couldn't find a stable beat in the cinematic suspense clips and guessed wildly (250 BPM detected for a 90 BPM target). This is a measurement bug, not a generation bug.</a:t>
            </a:r>
          </a:p>
        </p:txBody>
      </p:sp>
      <p:sp>
        <p:nvSpPr>
          <p:cNvPr id="12" name="Text 10"/>
          <p:cNvSpPr/>
          <p:nvPr/>
        </p:nvSpPr>
        <p:spPr>
          <a:xfrm>
            <a:off x="6400800" y="1920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B04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0" y="2381266"/>
            <a:ext cx="484035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latin typeface="Georgia" panose="02040502050405020303" pitchFamily="18" charset="0"/>
              </a:rPr>
              <a:t>Average multiple runs</a:t>
            </a:r>
            <a:r>
              <a:rPr lang="en-US" sz="1200" dirty="0">
                <a:latin typeface="Georgia" panose="02040502050405020303" pitchFamily="18" charset="0"/>
              </a:rPr>
              <a:t> Run the evaluation 3–5 times, report confidence intervals instead of single numbers.</a:t>
            </a:r>
          </a:p>
        </p:txBody>
      </p:sp>
      <p:sp>
        <p:nvSpPr>
          <p:cNvPr id="16" name="Text 14"/>
          <p:cNvSpPr/>
          <p:nvPr/>
        </p:nvSpPr>
        <p:spPr>
          <a:xfrm>
            <a:off x="6400800" y="3699319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latin typeface="Georgia" panose="02040502050405020303" pitchFamily="18" charset="0"/>
              </a:rPr>
              <a:t>Scale up to 100+ clips per scene</a:t>
            </a:r>
            <a:r>
              <a:rPr lang="en-US" sz="1200" dirty="0">
                <a:latin typeface="Georgia" panose="02040502050405020303" pitchFamily="18" charset="0"/>
              </a:rPr>
              <a:t> More samples would tighten the numbers and let me run proper significance tests.</a:t>
            </a:r>
          </a:p>
        </p:txBody>
      </p:sp>
      <p:sp>
        <p:nvSpPr>
          <p:cNvPr id="18" name="Text 16"/>
          <p:cNvSpPr/>
          <p:nvPr/>
        </p:nvSpPr>
        <p:spPr>
          <a:xfrm>
            <a:off x="6400800" y="5017372"/>
            <a:ext cx="484035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latin typeface="Georgia" panose="02040502050405020303" pitchFamily="18" charset="0"/>
              </a:rPr>
              <a:t>Use neural beat trackers instead</a:t>
            </a:r>
            <a:r>
              <a:rPr lang="en-US" sz="1200" dirty="0">
                <a:latin typeface="Georgia" panose="02040502050405020303" pitchFamily="18" charset="0"/>
              </a:rPr>
              <a:t> Models like beat-this or TCN-based trackers handle quiet, rhythm-less music better than </a:t>
            </a:r>
            <a:r>
              <a:rPr lang="en-US" sz="1200" dirty="0" err="1">
                <a:latin typeface="Georgia" panose="02040502050405020303" pitchFamily="18" charset="0"/>
              </a:rPr>
              <a:t>librosa's</a:t>
            </a:r>
            <a:r>
              <a:rPr lang="en-US" sz="1200" dirty="0">
                <a:latin typeface="Georgia" panose="02040502050405020303" pitchFamily="18" charset="0"/>
              </a:rPr>
              <a:t> onset detector.</a:t>
            </a:r>
          </a:p>
        </p:txBody>
      </p:sp>
      <p:sp>
        <p:nvSpPr>
          <p:cNvPr id="19" name="Right Arrow 18">
            <a:extLst>
              <a:ext uri="{FF2B5EF4-FFF2-40B4-BE49-F238E27FC236}">
                <a16:creationId xmlns:a16="http://schemas.microsoft.com/office/drawing/2014/main" id="{86D6392A-1163-B568-4FA8-70AC3B700B09}"/>
              </a:ext>
            </a:extLst>
          </p:cNvPr>
          <p:cNvSpPr/>
          <p:nvPr/>
        </p:nvSpPr>
        <p:spPr>
          <a:xfrm>
            <a:off x="5595068" y="2665973"/>
            <a:ext cx="518160" cy="207827"/>
          </a:xfrm>
          <a:prstGeom prst="rightArrow">
            <a:avLst/>
          </a:prstGeom>
          <a:solidFill>
            <a:srgbClr val="B04D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Right Arrow 19">
            <a:extLst>
              <a:ext uri="{FF2B5EF4-FFF2-40B4-BE49-F238E27FC236}">
                <a16:creationId xmlns:a16="http://schemas.microsoft.com/office/drawing/2014/main" id="{87D33A17-5063-DDE3-3A5D-AEBA74848F6D}"/>
              </a:ext>
            </a:extLst>
          </p:cNvPr>
          <p:cNvSpPr/>
          <p:nvPr/>
        </p:nvSpPr>
        <p:spPr>
          <a:xfrm>
            <a:off x="5595068" y="3984026"/>
            <a:ext cx="518160" cy="207827"/>
          </a:xfrm>
          <a:prstGeom prst="rightArrow">
            <a:avLst/>
          </a:prstGeom>
          <a:solidFill>
            <a:srgbClr val="B04D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ight Arrow 20">
            <a:extLst>
              <a:ext uri="{FF2B5EF4-FFF2-40B4-BE49-F238E27FC236}">
                <a16:creationId xmlns:a16="http://schemas.microsoft.com/office/drawing/2014/main" id="{CD0F8B1C-BF4E-2E4C-B7E7-43DFDE34F0E2}"/>
              </a:ext>
            </a:extLst>
          </p:cNvPr>
          <p:cNvSpPr/>
          <p:nvPr/>
        </p:nvSpPr>
        <p:spPr>
          <a:xfrm>
            <a:off x="5577840" y="5302079"/>
            <a:ext cx="518160" cy="207827"/>
          </a:xfrm>
          <a:prstGeom prst="rightArrow">
            <a:avLst/>
          </a:prstGeom>
          <a:solidFill>
            <a:srgbClr val="B04D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B04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60120" y="3474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DISCLOSURE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Tools, technologies, and AI assistance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48640" y="1920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B04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4231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Georgia" panose="02040502050405020303" pitchFamily="18" charset="0"/>
                <a:ea typeface="Calibri" pitchFamily="34" charset="-122"/>
                <a:cs typeface="Geeza Pro" panose="02000400000000000000" pitchFamily="2" charset="-78"/>
              </a:rPr>
              <a:t>Model</a:t>
            </a:r>
            <a:endParaRPr lang="en-US" sz="1200" dirty="0">
              <a:solidFill>
                <a:schemeClr val="tx1">
                  <a:lumMod val="65000"/>
                  <a:lumOff val="35000"/>
                </a:schemeClr>
              </a:solidFill>
              <a:latin typeface="Georgia" panose="02040502050405020303" pitchFamily="18" charset="0"/>
              <a:cs typeface="Geeza Pro" panose="02000400000000000000" pitchFamily="2" charset="-78"/>
            </a:endParaRPr>
          </a:p>
        </p:txBody>
      </p:sp>
      <p:sp>
        <p:nvSpPr>
          <p:cNvPr id="7" name="Text 5"/>
          <p:cNvSpPr/>
          <p:nvPr/>
        </p:nvSpPr>
        <p:spPr>
          <a:xfrm>
            <a:off x="2011680" y="24231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MusicGen Small (facebook/musicgen-small)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48640" y="28803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Georgia" panose="02040502050405020303" pitchFamily="18" charset="0"/>
                <a:ea typeface="Calibri" pitchFamily="34" charset="-122"/>
                <a:cs typeface="Geeza Pro" panose="02000400000000000000" pitchFamily="2" charset="-78"/>
              </a:rPr>
              <a:t>Framework</a:t>
            </a:r>
            <a:endParaRPr lang="en-US" sz="1200" dirty="0">
              <a:solidFill>
                <a:schemeClr val="tx1">
                  <a:lumMod val="65000"/>
                  <a:lumOff val="35000"/>
                </a:schemeClr>
              </a:solidFill>
              <a:latin typeface="Georgia" panose="02040502050405020303" pitchFamily="18" charset="0"/>
              <a:cs typeface="Geeza Pro" panose="02000400000000000000" pitchFamily="2" charset="-78"/>
            </a:endParaRPr>
          </a:p>
        </p:txBody>
      </p:sp>
      <p:sp>
        <p:nvSpPr>
          <p:cNvPr id="9" name="Text 7"/>
          <p:cNvSpPr/>
          <p:nvPr/>
        </p:nvSpPr>
        <p:spPr>
          <a:xfrm>
            <a:off x="2011680" y="28803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Hugging Face Transformers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48640" y="33375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Georgia" panose="02040502050405020303" pitchFamily="18" charset="0"/>
                <a:ea typeface="Calibri" pitchFamily="34" charset="-122"/>
                <a:cs typeface="Geeza Pro" panose="02000400000000000000" pitchFamily="2" charset="-78"/>
              </a:rPr>
              <a:t>Audio eval</a:t>
            </a:r>
            <a:endParaRPr lang="en-US" sz="1200" dirty="0">
              <a:solidFill>
                <a:schemeClr val="tx1">
                  <a:lumMod val="65000"/>
                  <a:lumOff val="35000"/>
                </a:schemeClr>
              </a:solidFill>
              <a:latin typeface="Georgia" panose="02040502050405020303" pitchFamily="18" charset="0"/>
              <a:cs typeface="Geeza Pro" panose="02000400000000000000" pitchFamily="2" charset="-78"/>
            </a:endParaRPr>
          </a:p>
        </p:txBody>
      </p:sp>
      <p:sp>
        <p:nvSpPr>
          <p:cNvPr id="11" name="Text 9"/>
          <p:cNvSpPr/>
          <p:nvPr/>
        </p:nvSpPr>
        <p:spPr>
          <a:xfrm>
            <a:off x="2011680" y="33375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LAION-CLAP, librosa, scipy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48640" y="37947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Georgia" panose="02040502050405020303" pitchFamily="18" charset="0"/>
                <a:ea typeface="Calibri" pitchFamily="34" charset="-122"/>
                <a:cs typeface="Geeza Pro" panose="02000400000000000000" pitchFamily="2" charset="-78"/>
              </a:rPr>
              <a:t>Reference SR</a:t>
            </a:r>
            <a:endParaRPr lang="en-US" sz="1200" dirty="0">
              <a:solidFill>
                <a:schemeClr val="tx1">
                  <a:lumMod val="65000"/>
                  <a:lumOff val="35000"/>
                </a:schemeClr>
              </a:solidFill>
              <a:latin typeface="Georgia" panose="02040502050405020303" pitchFamily="18" charset="0"/>
              <a:cs typeface="Geeza Pro" panose="02000400000000000000" pitchFamily="2" charset="-78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2011680" y="37947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32 kHz mono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48640" y="42519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Georgia" panose="02040502050405020303" pitchFamily="18" charset="0"/>
                <a:ea typeface="Calibri" pitchFamily="34" charset="-122"/>
                <a:cs typeface="Geeza Pro" panose="02000400000000000000" pitchFamily="2" charset="-78"/>
              </a:rPr>
              <a:t>Compute</a:t>
            </a:r>
            <a:endParaRPr lang="en-US" sz="1200" dirty="0">
              <a:solidFill>
                <a:schemeClr val="tx1">
                  <a:lumMod val="65000"/>
                  <a:lumOff val="35000"/>
                </a:schemeClr>
              </a:solidFill>
              <a:latin typeface="Georgia" panose="02040502050405020303" pitchFamily="18" charset="0"/>
              <a:cs typeface="Geeza Pro" panose="02000400000000000000" pitchFamily="2" charset="-78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2011680" y="42519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NVIDIA L4 GPU (Colab Pro)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48640" y="47091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Georgia" panose="02040502050405020303" pitchFamily="18" charset="0"/>
                <a:ea typeface="Calibri" pitchFamily="34" charset="-122"/>
                <a:cs typeface="Geeza Pro" panose="02000400000000000000" pitchFamily="2" charset="-78"/>
              </a:rPr>
              <a:t>Language</a:t>
            </a:r>
            <a:endParaRPr lang="en-US" sz="1200" dirty="0">
              <a:solidFill>
                <a:schemeClr val="tx1">
                  <a:lumMod val="65000"/>
                  <a:lumOff val="35000"/>
                </a:schemeClr>
              </a:solidFill>
              <a:latin typeface="Georgia" panose="02040502050405020303" pitchFamily="18" charset="0"/>
              <a:cs typeface="Geeza Pro" panose="02000400000000000000" pitchFamily="2" charset="-78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2011680" y="47091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3.12, PyTorch 2.x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583680" y="19202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B04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ASSISTANCE DISCLOSURE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583680" y="2286000"/>
            <a:ext cx="5120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Georgia" panose="02040502050405020303" pitchFamily="18" charset="0"/>
                <a:ea typeface="Calibri" pitchFamily="34" charset="-122"/>
                <a:cs typeface="Calibri" pitchFamily="34" charset="-120"/>
              </a:rPr>
              <a:t>Claude (Anthropic) — used as a pair-programming assistant for: debugging numpy/librosa dependency conflicts, structuring the evaluation pipeline, diagnosing the CLAP detail-bias finding, designing the “structured + guidance” strategy as the MusicGen analog of Challenge 1’s negative-prompt approach, and shaping the slide structure.</a:t>
            </a:r>
          </a:p>
          <a:p>
            <a:pPr marL="0" indent="0">
              <a:buNone/>
            </a:pPr>
            <a:endParaRPr lang="en-US" sz="1200" dirty="0">
              <a:solidFill>
                <a:schemeClr val="tx1">
                  <a:lumMod val="65000"/>
                  <a:lumOff val="35000"/>
                </a:schemeClr>
              </a:solidFill>
              <a:latin typeface="Georgia" panose="02040502050405020303" pitchFamily="18" charset="0"/>
              <a:cs typeface="Calibri" pitchFamily="34" charset="-120"/>
            </a:endParaRPr>
          </a:p>
          <a:p>
            <a:pPr marL="0" indent="0">
              <a:buNone/>
            </a:pPr>
            <a:endParaRPr lang="en-US" sz="1200" dirty="0">
              <a:solidFill>
                <a:schemeClr val="tx1">
                  <a:lumMod val="65000"/>
                  <a:lumOff val="35000"/>
                </a:schemeClr>
              </a:solidFill>
              <a:latin typeface="Georgia" panose="02040502050405020303" pitchFamily="18" charset="0"/>
              <a:cs typeface="Calibri" pitchFamily="34" charset="-120"/>
            </a:endParaRPr>
          </a:p>
          <a:p>
            <a:r>
              <a:rPr lang="en-US" sz="12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Georgia" panose="02040502050405020303" pitchFamily="18" charset="0"/>
                <a:ea typeface="Georgia" pitchFamily="34" charset="-122"/>
                <a:cs typeface="Georgia" pitchFamily="34" charset="-120"/>
              </a:rPr>
              <a:t>All code was reviewed. All audio was generated by </a:t>
            </a:r>
            <a:r>
              <a:rPr lang="en-US" sz="1200" i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Georgia" panose="02040502050405020303" pitchFamily="18" charset="0"/>
                <a:ea typeface="Georgia" pitchFamily="34" charset="-122"/>
                <a:cs typeface="Georgia" pitchFamily="34" charset="-120"/>
              </a:rPr>
              <a:t>Colab</a:t>
            </a:r>
            <a:r>
              <a:rPr lang="en-US" sz="12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Georgia" panose="02040502050405020303" pitchFamily="18" charset="0"/>
                <a:ea typeface="Georgia" pitchFamily="34" charset="-122"/>
                <a:cs typeface="Georgia" pitchFamily="34" charset="-120"/>
              </a:rPr>
              <a:t> notebook. All metric values were computed from first-principles Python; none were estimated. Verified across two independent runs.</a:t>
            </a:r>
            <a:endParaRPr lang="en-US" sz="1200" dirty="0">
              <a:solidFill>
                <a:schemeClr val="tx1">
                  <a:lumMod val="65000"/>
                  <a:lumOff val="35000"/>
                </a:schemeClr>
              </a:solidFill>
              <a:latin typeface="Georgia" panose="02040502050405020303" pitchFamily="18" charset="0"/>
            </a:endParaRPr>
          </a:p>
          <a:p>
            <a:pPr marL="0" indent="0">
              <a:buNone/>
            </a:pPr>
            <a:endParaRPr lang="en-US" sz="1200" dirty="0">
              <a:solidFill>
                <a:schemeClr val="tx1">
                  <a:lumMod val="65000"/>
                  <a:lumOff val="35000"/>
                </a:schemeClr>
              </a:solidFill>
              <a:latin typeface="Georgia" panose="02040502050405020303" pitchFamily="18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548640" y="6309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B04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371600" y="6309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github.com/rohanhashmi2/cs5542-quiz-challenge-2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126480" y="63093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B04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VIDEO</a:t>
            </a:r>
            <a:endParaRPr lang="en-US" sz="1100" dirty="0"/>
          </a:p>
        </p:txBody>
      </p:sp>
      <p:sp>
        <p:nvSpPr>
          <p:cNvPr id="20" name="Text 22">
            <a:extLst>
              <a:ext uri="{FF2B5EF4-FFF2-40B4-BE49-F238E27FC236}">
                <a16:creationId xmlns:a16="http://schemas.microsoft.com/office/drawing/2014/main" id="{952BF28F-D15C-9226-AC23-69390D45E495}"/>
              </a:ext>
            </a:extLst>
          </p:cNvPr>
          <p:cNvSpPr/>
          <p:nvPr/>
        </p:nvSpPr>
        <p:spPr>
          <a:xfrm>
            <a:off x="7498080" y="63093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hlinkClick r:id="rId3"/>
              </a:rPr>
              <a:t>Screen Recording 2026-04-23 at 2.57.53 PM.mov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B04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5542 · QUIZ CHALLENGE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2468880"/>
            <a:ext cx="10698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“Control costs diversity. Alignment costs specificity. The engineering is choosing the right trade.”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31520" y="44805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The same thesis, reproduced across modalities.</a:t>
            </a:r>
            <a:endParaRPr lang="en-US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731520" y="557784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B04A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you.</a:t>
            </a:r>
            <a:endParaRPr lang="en-US" sz="2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</TotalTime>
  <Words>1680</Words>
  <Application>Microsoft Macintosh PowerPoint</Application>
  <PresentationFormat>Widescreen</PresentationFormat>
  <Paragraphs>242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Arial</vt:lpstr>
      <vt:lpstr>Calibri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Controlled Music &amp; Sound Generation with MusicGen</dc:title>
  <dc:subject>PptxGenJS Presentation</dc:subject>
  <dc:creator>Rohan Hashmi</dc:creator>
  <cp:lastModifiedBy>Hashmi, Rohan Ashraf (UMKC-Student)</cp:lastModifiedBy>
  <cp:revision>5</cp:revision>
  <dcterms:created xsi:type="dcterms:W3CDTF">2026-04-23T17:56:25Z</dcterms:created>
  <dcterms:modified xsi:type="dcterms:W3CDTF">2026-04-23T20:13:27Z</dcterms:modified>
</cp:coreProperties>
</file>