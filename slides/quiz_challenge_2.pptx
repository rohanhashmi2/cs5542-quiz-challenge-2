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4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94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5542 · QUIZ CHALLENGE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Music &amp; Sound</a:t>
            </a:r>
            <a:endParaRPr lang="en-US" sz="4800" dirty="0"/>
          </a:p>
          <a:p>
            <a:pPr marL="0" indent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with MusicGen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study of prompt engineering, control mechanisms, and multi-metric evaluation in text-to-audio foundation models.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Hashmi  ·   University of Missouri–Kansas City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controlled audio generation matters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3866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Game studios and content creators need music and sound that match specific briefs — genre, tempo, mood, instrumentation. Naive prompts to audio foundation models produce unpredictable results. Production systems need consistency, alignment to intent, and measurable quality.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Turn structured scene briefs into reliable audio generations.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Measure alignment, consistency, diversity, tempo, and variance.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5486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Quantify what specificity costs in creative range.</a:t>
            </a:r>
            <a:endParaRPr lang="en-US" sz="13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MusicGen in one paragraph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MusicGen is an autoregressive transformer — unlike the diffusion models used for images. It predicts audio tokens sequentially from a text prompt. A T5 encoder turns the text into an embedding, a decoder-only transformer predicts discrete EnCodec audio tokens one step at a time, and EnCodec decodes those tokens into a 32 kHz waveform.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 Encoder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Text prompt becomes a conditioning embedding.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83280" y="384048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11880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Predicts discrete audio tokens autoregressively.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384048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465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Classifier-free guidance steers toward the prompt.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52560" y="384048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8116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8116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EnCodec Decode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81160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Tokens decoded to a 32 kHz mono waveform.</a:t>
            </a:r>
            <a:endParaRPr lang="en-US" sz="12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scene metadata flows through three progressively-constrained prompt strategies, into MusicGen Small, and out to a five-metric evaluation layer.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192024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347472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SceneSpec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43434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scene, genre, BPM,</a:t>
            </a:r>
            <a:endParaRPr lang="en-US" sz="12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instruments, mood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34640" y="3291840"/>
            <a:ext cx="192024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07792" y="347472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07792" y="43434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naive · structured ·</a:t>
            </a:r>
            <a:endParaRPr lang="en-US" sz="12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structured+guidance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66360" y="3291840"/>
            <a:ext cx="192024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347472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9512" y="43434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T5 + Transformer</a:t>
            </a:r>
            <a:endParaRPr lang="en-US" sz="12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+ EnCodec · CFG 3/5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98080" y="3291840"/>
            <a:ext cx="192024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71232" y="347472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71232" y="43434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10-sec WAV at 32 kHz</a:t>
            </a:r>
            <a:endParaRPr lang="en-US" sz="12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seeded for reproducibility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829800" y="3291840"/>
            <a:ext cx="192024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02952" y="347472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02952" y="43434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CLAP · spectral dist ·</a:t>
            </a:r>
            <a:endParaRPr lang="en-US" sz="12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tempo accuracy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PyTorch  ·  Hugging Face Transformers  ·  LAION-CLAP  ·  librosa  ·  NVIDIA L4 GPU (Colab Pro)  ·  MusicGen Small (300M params)</a:t>
            </a:r>
            <a:endParaRPr lang="en-US" sz="1050" dirty="0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2AE8A483-341E-B994-E446-DE6038673221}"/>
              </a:ext>
            </a:extLst>
          </p:cNvPr>
          <p:cNvSpPr/>
          <p:nvPr/>
        </p:nvSpPr>
        <p:spPr>
          <a:xfrm>
            <a:off x="2423160" y="4114800"/>
            <a:ext cx="411480" cy="182880"/>
          </a:xfrm>
          <a:prstGeom prst="rightArrow">
            <a:avLst/>
          </a:prstGeom>
          <a:solidFill>
            <a:srgbClr val="B04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79C92218-AB37-AEC7-F7BC-804F753AA834}"/>
              </a:ext>
            </a:extLst>
          </p:cNvPr>
          <p:cNvSpPr/>
          <p:nvPr/>
        </p:nvSpPr>
        <p:spPr>
          <a:xfrm>
            <a:off x="4754880" y="4114800"/>
            <a:ext cx="411480" cy="182880"/>
          </a:xfrm>
          <a:prstGeom prst="rightArrow">
            <a:avLst/>
          </a:prstGeom>
          <a:solidFill>
            <a:srgbClr val="B04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DF14038D-CDC6-FFE4-94F9-7625764AFA82}"/>
              </a:ext>
            </a:extLst>
          </p:cNvPr>
          <p:cNvSpPr/>
          <p:nvPr/>
        </p:nvSpPr>
        <p:spPr>
          <a:xfrm>
            <a:off x="7086600" y="4114800"/>
            <a:ext cx="411480" cy="182880"/>
          </a:xfrm>
          <a:prstGeom prst="rightArrow">
            <a:avLst/>
          </a:prstGeom>
          <a:solidFill>
            <a:srgbClr val="B04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E178B23-72D5-7BF1-FE6C-D74C55364B50}"/>
              </a:ext>
            </a:extLst>
          </p:cNvPr>
          <p:cNvSpPr/>
          <p:nvPr/>
        </p:nvSpPr>
        <p:spPr>
          <a:xfrm>
            <a:off x="9418320" y="4084983"/>
            <a:ext cx="411480" cy="182880"/>
          </a:xfrm>
          <a:prstGeom prst="rightArrow">
            <a:avLst/>
          </a:prstGeom>
          <a:solidFill>
            <a:srgbClr val="B04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audio scene specifications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Rather than train a model (MusicGen is already trained), I authored a compact catalog of five diverse audio scenes. Each spec is a dataclass capturing the fields a real content-creator or game-audio platform would receive as a user brief.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Workout pop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97680" y="3813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BPM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261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4261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Cinematic suspense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97680" y="4325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BPM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73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4773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Lo-fi study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97680" y="4837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 BPM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285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5285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Chiptune platformer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297680" y="5349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BPM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7972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51560" y="5797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shop folk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297680" y="5861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 BPM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EXAMPLE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36576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SceneSpec(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scene_id    = "chiptune_platformer",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genre       = "8-bit chiptune",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tempo_bpm   = 150,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instruments = ["square wave lead",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"triangle wave bass",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"noise channel drums"],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mood        = "playful, adventurous,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nostalgic",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key_descriptors = ["NES-style",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"rapid arpeggios"],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strategies, progressively controlled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965960"/>
            <a:ext cx="8732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9659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"8-bit chiptune"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9032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information — what a casual user would type.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3520440"/>
            <a:ext cx="8732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352501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"8-bit chiptune, 150 BPM, square wave lead, triangle wave bass, noise channel drums, playful adventurous nostalgic, NES-style, rapid arpeggios, looping chip music, retro videogame, professional studio production, high quality recording"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445998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compiled via template with quality modifiers appended.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GUIDANCE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stack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5074920"/>
            <a:ext cx="8732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509261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as structured, plus quality-floor tokens: "clean mix, no distortion, no vocals, no clipping" — and CFG raised from 3.0 to 5.0.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602102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MusicGen has no negative-prompt mechanism, so the closest analog is higher classifier-free guidance + quality tokens.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dramatic case: “8-bit chiptune”</a:t>
            </a:r>
            <a:endParaRPr lang="en-US" sz="3600" dirty="0"/>
          </a:p>
        </p:txBody>
      </p:sp>
      <p:pic>
        <p:nvPicPr>
          <p:cNvPr id="5" name="Image 0" descr="scene03_naive_seed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5349240" cy="3200400"/>
          </a:xfrm>
          <a:prstGeom prst="rect">
            <a:avLst/>
          </a:prstGeom>
        </p:spPr>
      </p:pic>
      <p:pic>
        <p:nvPicPr>
          <p:cNvPr id="6" name="Image 1" descr="scene03_structured_guidance_seed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03120"/>
            <a:ext cx="534924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4406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PROMPT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5760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"8-bit chiptune"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1722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CLAP: 6.68    ·    Detected tempo: 101 BPM (target 150)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309360" y="54406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GUIDANCE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09360" y="5760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metadata + quality floor + CFG 5.0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09360" y="61722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CLAP: 48.87    ·    Detected tempo: 150 BPM (exact)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strategy × seed matrix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0567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000" dirty="0"/>
          </a:p>
        </p:txBody>
      </p:sp>
      <p:pic>
        <p:nvPicPr>
          <p:cNvPr id="10" name="Picture 9" descr="A close-up of a screenshot&#10;&#10;AI-generated content may be incorrect.">
            <a:extLst>
              <a:ext uri="{FF2B5EF4-FFF2-40B4-BE49-F238E27FC236}">
                <a16:creationId xmlns:a16="http://schemas.microsoft.com/office/drawing/2014/main" id="{1EEF823E-C4D8-DE84-927A-8AE4A5F75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99"/>
          <a:stretch>
            <a:fillRect/>
          </a:stretch>
        </p:blipFill>
        <p:spPr>
          <a:xfrm>
            <a:off x="1591544" y="2026592"/>
            <a:ext cx="9929896" cy="3928936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BF3021E9-B80C-5AC5-0DD2-A2A475CD62D6}"/>
              </a:ext>
            </a:extLst>
          </p:cNvPr>
          <p:cNvSpPr/>
          <p:nvPr/>
        </p:nvSpPr>
        <p:spPr>
          <a:xfrm>
            <a:off x="548640" y="37224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68EA86A-ED09-E14E-27DA-089D24E2CFF8}"/>
              </a:ext>
            </a:extLst>
          </p:cNvPr>
          <p:cNvSpPr/>
          <p:nvPr/>
        </p:nvSpPr>
        <p:spPr>
          <a:xfrm>
            <a:off x="548640" y="5056632"/>
            <a:ext cx="104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GUIDENCE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Same scene, different prompts (rows) and different random seeds (columns). Reading down shows what each strategy produces. Reading across shows how much each strategy changes between runs.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metrics, one coherent story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819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CLAP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2104" y="1920240"/>
            <a:ext cx="859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Does the audio match the prompt you gave it?</a:t>
            </a:r>
            <a:r>
              <a:rPr lang="en-US" sz="1200" dirty="0">
                <a:latin typeface="Georgia" panose="02040502050405020303" pitchFamily="18" charset="0"/>
              </a:rPr>
              <a:t> Scores each clip against its exact prompt. The industry-standard alignment check. Short prompts usually win here — but that's a bias, not a signal.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1115568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3286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CLAP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2104" y="2724912"/>
            <a:ext cx="859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Does the audio match the </a:t>
            </a:r>
            <a:r>
              <a:rPr lang="en-US" sz="1200" b="1" i="1" dirty="0">
                <a:latin typeface="Georgia" panose="02040502050405020303" pitchFamily="18" charset="0"/>
              </a:rPr>
              <a:t>concept</a:t>
            </a:r>
            <a:r>
              <a:rPr lang="en-US" sz="1200" b="1" dirty="0">
                <a:latin typeface="Georgia" panose="02040502050405020303" pitchFamily="18" charset="0"/>
              </a:rPr>
              <a:t> — regardless of how you asked?</a:t>
            </a:r>
            <a:r>
              <a:rPr lang="en-US" sz="1200" dirty="0">
                <a:latin typeface="Georgia" panose="02040502050405020303" pitchFamily="18" charset="0"/>
              </a:rPr>
              <a:t> Scores each clip against the same canonical description of its scene, so all three strategies get a fair comparison. Controls for prompt-length effects.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1115568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53753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2104" y="3529584"/>
            <a:ext cx="859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Does the same prompt produce similar audio across seeds?</a:t>
            </a:r>
            <a:r>
              <a:rPr lang="en-US" sz="1200" dirty="0">
                <a:latin typeface="Georgia" panose="02040502050405020303" pitchFamily="18" charset="0"/>
              </a:rPr>
              <a:t> Measures how much same-scene clips drift when only the random seed changes. Lower = the prompt is doing its job. Uses mel-spectrogram distance.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1115568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34220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2104" y="4334256"/>
            <a:ext cx="859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Does the system produce varied output for different scenes?</a:t>
            </a:r>
            <a:r>
              <a:rPr lang="en-US" sz="1200" dirty="0">
                <a:latin typeface="Georgia" panose="02040502050405020303" pitchFamily="18" charset="0"/>
              </a:rPr>
              <a:t> Measures how much different-scene clips differ from each other. Higher = genuine range, not collapse to a single "sound". Also mel-spectrogram distance.</a:t>
            </a:r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15568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14687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 Accuracy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22104" y="5138928"/>
            <a:ext cx="859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Is the beat actually at the BPM you asked for?</a:t>
            </a:r>
            <a:r>
              <a:rPr lang="en-US" sz="1200" dirty="0">
                <a:latin typeface="Georgia" panose="02040502050405020303" pitchFamily="18" charset="0"/>
              </a:rPr>
              <a:t> The only objective, physics-based check in the set. Reported as median (robust) and mean (inflated by beat-tracker failures on sparse music).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 across 45 generations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60704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CLAP 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CLAP 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CONSIST. 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7260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MAE (MED) 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651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19.78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31.65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0.0485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2651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0.0557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7260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1060704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291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41.65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291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291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4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3291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726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1060704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+ Guidance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3931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4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48.12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4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49.45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3931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0" y="3931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0.0379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7260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4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1060704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82880" cy="182880"/>
          </a:xfrm>
          <a:prstGeom prst="rect">
            <a:avLst/>
          </a:prstGeom>
          <a:solidFill>
            <a:srgbClr val="B04A2F"/>
          </a:solidFill>
          <a:ln w="12700">
            <a:solidFill>
              <a:srgbClr val="B04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naive-winning metric (diversity only)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4709160"/>
            <a:ext cx="182880" cy="182880"/>
          </a:xfrm>
          <a:prstGeom prst="rect">
            <a:avLst/>
          </a:prstGeom>
          <a:solidFill>
            <a:srgbClr val="3D4F3C"/>
          </a:solidFill>
          <a:ln w="12700">
            <a:solidFill>
              <a:srgbClr val="3D4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1208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structured-winning metric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155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D4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58704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Structured + Guidance wins alignment and tempo accuracy; consistency is essentially tied with Structured. Naive wins only diversity. Same control vs. diversity trade-off as Challenge 1 — reproduced in audio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dirty="0">
                <a:latin typeface="Georgia" panose="02040502050405020303" pitchFamily="18" charset="0"/>
                <a:cs typeface="Geeza Pro" panose="02000400000000000000" pitchFamily="2" charset="-78"/>
              </a:rPr>
              <a:t>Metrics carry their training bias with them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1001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· IMAGES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8459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30.80  &gt;  Structured 28.08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845659"/>
            <a:ext cx="10637520" cy="55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Same lesson as Challenge 1: one alignment metric is never enough. But the trap is different — what biased CLIP in Challenge 1 isn't what biases CLAP here. You can't just copy the fix; you must re-diagnose.</a:t>
            </a:r>
          </a:p>
        </p:txBody>
      </p:sp>
      <p:sp>
        <p:nvSpPr>
          <p:cNvPr id="10" name="Text 8"/>
          <p:cNvSpPr/>
          <p:nvPr/>
        </p:nvSpPr>
        <p:spPr>
          <a:xfrm>
            <a:off x="6156960" y="261001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· AUDIO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56960" y="28174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4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41.65  &gt;  Naive 19.78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56960" y="3314038"/>
            <a:ext cx="5029200" cy="55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CLAP was trained on detailed music captions with instruments and BPM. Long prompts look </a:t>
            </a: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more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 correct, not less. No bias fix needed for the ranking.</a:t>
            </a: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331BB4F-3540-89A1-AF6E-A1584B73343C}"/>
              </a:ext>
            </a:extLst>
          </p:cNvPr>
          <p:cNvSpPr/>
          <p:nvPr/>
        </p:nvSpPr>
        <p:spPr>
          <a:xfrm>
            <a:off x="548640" y="4519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EC41A48-3664-B020-01E9-23218D99D584}"/>
              </a:ext>
            </a:extLst>
          </p:cNvPr>
          <p:cNvSpPr/>
          <p:nvPr/>
        </p:nvSpPr>
        <p:spPr>
          <a:xfrm>
            <a:off x="548640" y="3276602"/>
            <a:ext cx="4572000" cy="55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CLIP was trained on short web captions. Long prompts have more ways to fail. Had to introduce semantic CLIP to see the real ranking.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system breaks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7249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Georgia" panose="02040502050405020303" pitchFamily="18" charset="0"/>
              </a:rPr>
              <a:t>Naive prompts fail on niche genres</a:t>
            </a:r>
          </a:p>
        </p:txBody>
      </p:sp>
      <p:sp>
        <p:nvSpPr>
          <p:cNvPr id="7" name="Text 4"/>
          <p:cNvSpPr/>
          <p:nvPr/>
        </p:nvSpPr>
        <p:spPr>
          <a:xfrm>
            <a:off x="548640" y="4214192"/>
            <a:ext cx="3657600" cy="130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"8-bit chiptune" produced generic electronic noise across all three seeds — CLAP score 6.86, close to zero. Chiptune is rare in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MusicGen's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 training data, so the model has nothing to fall back on without anchor words like "square wave" or "NES-style".</a:t>
            </a:r>
          </a:p>
        </p:txBody>
      </p:sp>
      <p:sp>
        <p:nvSpPr>
          <p:cNvPr id="9" name="Text 5"/>
          <p:cNvSpPr/>
          <p:nvPr/>
        </p:nvSpPr>
        <p:spPr>
          <a:xfrm>
            <a:off x="4361688" y="37249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Georgia" panose="02040502050405020303" pitchFamily="18" charset="0"/>
              </a:rPr>
              <a:t>The beat tracker misreads sparse audio</a:t>
            </a:r>
          </a:p>
        </p:txBody>
      </p:sp>
      <p:sp>
        <p:nvSpPr>
          <p:cNvPr id="10" name="Text 6"/>
          <p:cNvSpPr/>
          <p:nvPr/>
        </p:nvSpPr>
        <p:spPr>
          <a:xfrm>
            <a:off x="4361688" y="4214190"/>
            <a:ext cx="3657600" cy="130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For cinematic suspense at seed 123,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librosa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 reported 250 BPM when the target was 90. There's no clear drum pulse in orchestral music, so the tracker latched onto the wrong subdivision. The audio is fine — the measurement isn't.</a:t>
            </a:r>
          </a:p>
        </p:txBody>
      </p:sp>
      <p:sp>
        <p:nvSpPr>
          <p:cNvPr id="12" name="Text 7"/>
          <p:cNvSpPr/>
          <p:nvPr/>
        </p:nvSpPr>
        <p:spPr>
          <a:xfrm>
            <a:off x="8174736" y="37249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latin typeface="Georgia" panose="02040502050405020303" pitchFamily="18" charset="0"/>
              </a:rPr>
              <a:t>MusicGen</a:t>
            </a:r>
            <a:r>
              <a:rPr lang="en-US" sz="1400" dirty="0">
                <a:latin typeface="Georgia" panose="02040502050405020303" pitchFamily="18" charset="0"/>
              </a:rPr>
              <a:t> doesn't support negative prompts</a:t>
            </a:r>
          </a:p>
        </p:txBody>
      </p:sp>
      <p:sp>
        <p:nvSpPr>
          <p:cNvPr id="13" name="Text 8"/>
          <p:cNvSpPr/>
          <p:nvPr/>
        </p:nvSpPr>
        <p:spPr>
          <a:xfrm>
            <a:off x="8174736" y="4214190"/>
            <a:ext cx="3657600" cy="130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The "negative prompt" approach from Challenge 1 doesn't exist here. I had to rebuild the control stack using higher guidance (CFG 5.0) and quality-floor words in the positive prompt ("clean mix, no distortion"). Same goal, different mechanism.</a:t>
            </a:r>
          </a:p>
        </p:txBody>
      </p:sp>
      <p:pic>
        <p:nvPicPr>
          <p:cNvPr id="15" name="Picture 14" descr="A close-up of a graph&#10;&#10;AI-generated content may be incorrect.">
            <a:extLst>
              <a:ext uri="{FF2B5EF4-FFF2-40B4-BE49-F238E27FC236}">
                <a16:creationId xmlns:a16="http://schemas.microsoft.com/office/drawing/2014/main" id="{3742859C-B71B-E93E-CF64-9B21BC630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049"/>
          <a:stretch>
            <a:fillRect/>
          </a:stretch>
        </p:blipFill>
        <p:spPr>
          <a:xfrm>
            <a:off x="548640" y="1987628"/>
            <a:ext cx="3648798" cy="1441372"/>
          </a:xfrm>
          <a:prstGeom prst="rect">
            <a:avLst/>
          </a:prstGeom>
        </p:spPr>
      </p:pic>
      <p:pic>
        <p:nvPicPr>
          <p:cNvPr id="17" name="Picture 16" descr="A purple and black image&#10;&#10;AI-generated content may be incorrect.">
            <a:extLst>
              <a:ext uri="{FF2B5EF4-FFF2-40B4-BE49-F238E27FC236}">
                <a16:creationId xmlns:a16="http://schemas.microsoft.com/office/drawing/2014/main" id="{FBB5C5E6-575F-FA03-1549-B26A6D69C6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492"/>
          <a:stretch>
            <a:fillRect/>
          </a:stretch>
        </p:blipFill>
        <p:spPr>
          <a:xfrm>
            <a:off x="4370680" y="1987628"/>
            <a:ext cx="3630815" cy="1441373"/>
          </a:xfrm>
          <a:prstGeom prst="rect">
            <a:avLst/>
          </a:prstGeom>
        </p:spPr>
      </p:pic>
      <p:pic>
        <p:nvPicPr>
          <p:cNvPr id="19" name="Picture 18" descr="A close-up of a screen&#10;&#10;AI-generated content may be incorrect.">
            <a:extLst>
              <a:ext uri="{FF2B5EF4-FFF2-40B4-BE49-F238E27FC236}">
                <a16:creationId xmlns:a16="http://schemas.microsoft.com/office/drawing/2014/main" id="{BB7A4633-6BE0-B47B-E2DB-30C85D601A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307"/>
          <a:stretch>
            <a:fillRect/>
          </a:stretch>
        </p:blipFill>
        <p:spPr>
          <a:xfrm>
            <a:off x="8174736" y="1987628"/>
            <a:ext cx="3597765" cy="14413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caveats, next steps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81266"/>
            <a:ext cx="4758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CLAP scores shift slightly between runs</a:t>
            </a:r>
            <a:r>
              <a:rPr lang="en-US" sz="1200" dirty="0">
                <a:latin typeface="Georgia" panose="02040502050405020303" pitchFamily="18" charset="0"/>
              </a:rPr>
              <a:t> I ran the full pipeline twice. Scores moved by less than 1 point (under 2%). The rankings stayed the same, but a single run isn't enough to be sure.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99319"/>
            <a:ext cx="4758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Only 45 total clips</a:t>
            </a:r>
            <a:r>
              <a:rPr lang="en-US" sz="1200" dirty="0">
                <a:latin typeface="Georgia" panose="02040502050405020303" pitchFamily="18" charset="0"/>
              </a:rPr>
              <a:t> 5 scenes × 3 strategies × 3 seeds. Enough to see clear trends, not enough to prove them statistically.</a:t>
            </a:r>
          </a:p>
        </p:txBody>
      </p:sp>
      <p:sp>
        <p:nvSpPr>
          <p:cNvPr id="11" name="Text 9"/>
          <p:cNvSpPr/>
          <p:nvPr/>
        </p:nvSpPr>
        <p:spPr>
          <a:xfrm>
            <a:off x="548639" y="5017372"/>
            <a:ext cx="4758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  <a:cs typeface="Geeza Pro" panose="02000400000000000000" pitchFamily="2" charset="-78"/>
              </a:rPr>
              <a:t>Beat tracker fails on sparse music</a:t>
            </a:r>
            <a:r>
              <a:rPr lang="en-US" sz="1200" dirty="0">
                <a:latin typeface="Georgia" panose="02040502050405020303" pitchFamily="18" charset="0"/>
                <a:cs typeface="Geeza Pro" panose="02000400000000000000" pitchFamily="2" charset="-78"/>
              </a:rPr>
              <a:t> </a:t>
            </a:r>
            <a:r>
              <a:rPr lang="en-US" sz="1200" dirty="0" err="1">
                <a:latin typeface="Georgia" panose="02040502050405020303" pitchFamily="18" charset="0"/>
                <a:cs typeface="Geeza Pro" panose="02000400000000000000" pitchFamily="2" charset="-78"/>
              </a:rPr>
              <a:t>Librosa</a:t>
            </a:r>
            <a:r>
              <a:rPr lang="en-US" sz="1200" dirty="0">
                <a:latin typeface="Georgia" panose="02040502050405020303" pitchFamily="18" charset="0"/>
                <a:cs typeface="Geeza Pro" panose="02000400000000000000" pitchFamily="2" charset="-78"/>
              </a:rPr>
              <a:t> couldn't find a stable beat in the cinematic suspense clips and guessed wildly (250 BPM detected for a 90 BPM target). This is a measurement bug, not a generation bug.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381266"/>
            <a:ext cx="484035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Average multiple runs</a:t>
            </a:r>
            <a:r>
              <a:rPr lang="en-US" sz="1200" dirty="0">
                <a:latin typeface="Georgia" panose="02040502050405020303" pitchFamily="18" charset="0"/>
              </a:rPr>
              <a:t> Run the evaluation 3–5 times, report confidence intervals instead of single numbers.</a:t>
            </a:r>
          </a:p>
        </p:txBody>
      </p:sp>
      <p:sp>
        <p:nvSpPr>
          <p:cNvPr id="16" name="Text 14"/>
          <p:cNvSpPr/>
          <p:nvPr/>
        </p:nvSpPr>
        <p:spPr>
          <a:xfrm>
            <a:off x="6400800" y="3699319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Scale up to 100+ clips per scene</a:t>
            </a:r>
            <a:r>
              <a:rPr lang="en-US" sz="1200" dirty="0">
                <a:latin typeface="Georgia" panose="02040502050405020303" pitchFamily="18" charset="0"/>
              </a:rPr>
              <a:t> More samples would tighten the numbers and let me run proper significance tests.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0" y="5017372"/>
            <a:ext cx="484035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Georgia" panose="02040502050405020303" pitchFamily="18" charset="0"/>
              </a:rPr>
              <a:t>Use neural beat trackers instead</a:t>
            </a:r>
            <a:r>
              <a:rPr lang="en-US" sz="1200" dirty="0">
                <a:latin typeface="Georgia" panose="02040502050405020303" pitchFamily="18" charset="0"/>
              </a:rPr>
              <a:t> Models like beat-this or TCN-based trackers handle quiet, rhythm-less music better than </a:t>
            </a:r>
            <a:r>
              <a:rPr lang="en-US" sz="1200" dirty="0" err="1">
                <a:latin typeface="Georgia" panose="02040502050405020303" pitchFamily="18" charset="0"/>
              </a:rPr>
              <a:t>librosa's</a:t>
            </a:r>
            <a:r>
              <a:rPr lang="en-US" sz="1200" dirty="0">
                <a:latin typeface="Georgia" panose="02040502050405020303" pitchFamily="18" charset="0"/>
              </a:rPr>
              <a:t> onset detector.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86D6392A-1163-B568-4FA8-70AC3B700B09}"/>
              </a:ext>
            </a:extLst>
          </p:cNvPr>
          <p:cNvSpPr/>
          <p:nvPr/>
        </p:nvSpPr>
        <p:spPr>
          <a:xfrm>
            <a:off x="5595068" y="2665973"/>
            <a:ext cx="518160" cy="207827"/>
          </a:xfrm>
          <a:prstGeom prst="rightArrow">
            <a:avLst/>
          </a:prstGeom>
          <a:solidFill>
            <a:srgbClr val="B04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87D33A17-5063-DDE3-3A5D-AEBA74848F6D}"/>
              </a:ext>
            </a:extLst>
          </p:cNvPr>
          <p:cNvSpPr/>
          <p:nvPr/>
        </p:nvSpPr>
        <p:spPr>
          <a:xfrm>
            <a:off x="5595068" y="3984026"/>
            <a:ext cx="518160" cy="207827"/>
          </a:xfrm>
          <a:prstGeom prst="rightArrow">
            <a:avLst/>
          </a:prstGeom>
          <a:solidFill>
            <a:srgbClr val="B04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CD0F8B1C-BF4E-2E4C-B7E7-43DFDE34F0E2}"/>
              </a:ext>
            </a:extLst>
          </p:cNvPr>
          <p:cNvSpPr/>
          <p:nvPr/>
        </p:nvSpPr>
        <p:spPr>
          <a:xfrm>
            <a:off x="5577840" y="5302079"/>
            <a:ext cx="518160" cy="207827"/>
          </a:xfrm>
          <a:prstGeom prst="rightArrow">
            <a:avLst/>
          </a:prstGeom>
          <a:solidFill>
            <a:srgbClr val="B04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Tools, technologies, and AI assistance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Geeza Pro" panose="02000400000000000000" pitchFamily="2" charset="-78"/>
              </a:rPr>
              <a:t>Model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cs typeface="Geeza Pro" panose="020004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MusicGen Small (facebook/musicgen-small)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Geeza Pro" panose="02000400000000000000" pitchFamily="2" charset="-78"/>
              </a:rPr>
              <a:t>Framework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cs typeface="Geeza Pro" panose="02000400000000000000" pitchFamily="2" charset="-78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1168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 Face Transformers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Geeza Pro" panose="02000400000000000000" pitchFamily="2" charset="-78"/>
              </a:rPr>
              <a:t>Audio eval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cs typeface="Geeza Pro" panose="020004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1168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LAION-CLAP, librosa, scipy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Geeza Pro" panose="02000400000000000000" pitchFamily="2" charset="-78"/>
              </a:rPr>
              <a:t>Reference SR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cs typeface="Geeza Pro" panose="02000400000000000000" pitchFamily="2" charset="-7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1168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kHz mono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Geeza Pro" panose="02000400000000000000" pitchFamily="2" charset="-78"/>
              </a:rPr>
              <a:t>Compute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cs typeface="Geeza Pro" panose="02000400000000000000" pitchFamily="2" charset="-7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1168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 L4 GPU (Colab Pro)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Geeza Pro" panose="02000400000000000000" pitchFamily="2" charset="-78"/>
              </a:rPr>
              <a:t>Language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cs typeface="Geeza Pro" panose="02000400000000000000" pitchFamily="2" charset="-7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1168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3.12, PyTorch 2.x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DISCLOSURE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2860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Claude (Anthropic) — used as a pair-programming assistant for: debugging numpy/librosa dependency conflicts, structuring the evaluation pipeline, diagnosing the CLAP detail-bias finding, designing the “structured + guidance” strategy as the MusicGen analog of Challenge 1’s negative-prompt approach, and shaping the slide structure.</a:t>
            </a:r>
          </a:p>
          <a:p>
            <a:pPr marL="0" indent="0">
              <a:buNone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cs typeface="Calibri" pitchFamily="34" charset="-120"/>
            </a:endParaRPr>
          </a:p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All code was reviewed. All audio was generated by </a:t>
            </a:r>
            <a:r>
              <a:rPr lang="en-US" sz="12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Colab</a:t>
            </a: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 notebook. All metric values were computed from first-principles Python; none were estimated. Verified across two independent runs.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github.com/rohanhashmi2/cs5542-quiz-challenge-2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6309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[link to be added]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0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5542 · QUIZ CHALLENGE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“Control costs diversity. Alignment costs specificity. The engineering is choosing the right trade.”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same thesis, reproduced across modalities.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5577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04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1679</Words>
  <Application>Microsoft Macintosh PowerPoint</Application>
  <PresentationFormat>Widescreen</PresentationFormat>
  <Paragraphs>242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Controlled Music &amp; Sound Generation with MusicGen</dc:title>
  <dc:subject>PptxGenJS Presentation</dc:subject>
  <dc:creator>Rohan Hashmi</dc:creator>
  <cp:lastModifiedBy>Hashmi, Rohan Ashraf (UMKC-Student)</cp:lastModifiedBy>
  <cp:revision>4</cp:revision>
  <dcterms:created xsi:type="dcterms:W3CDTF">2026-04-23T17:56:25Z</dcterms:created>
  <dcterms:modified xsi:type="dcterms:W3CDTF">2026-04-23T18:59:30Z</dcterms:modified>
</cp:coreProperties>
</file>